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เปิดด้วยภาพใหญ่ก่อนว่าเราใช้ Container เพื่อให้ผู้เรียนทุกคนเริ่มจาก baseline เดียวกัน ไม่ต้องเสียเวลากับการติดตั้งที่เครื่องแต่ละคนต่างกัน จากนั้นค่อยย้ำว่า Docker เป็นเครื่องมือที่นิยมใช้จัดการ container เหล่านี้.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สไลด์นี้ช่วยแก้ความเข้าใจผิดว่า container คือเครื่องเสมือนอีกเครื่องหนึ่ง ให้ชี้ว่าจริง ๆ แล้วมันคือ process ที่ถูก isolate และจัดการทรัพยากรผ่าน engine เดียวกัน.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ให้ใช้สไลด์นี้เป็นคำศัพท์กลางของทั้งคอร์ส เพราะหลังจากนี้ผู้เรียนจะเห็นคำเหล่านี้ตลอดใน Docker Compose และ lab ของ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บอกผู้เรียนว่าถ้ากลับไปทำต่อบนเครื่องตัวเอง Docker Desktop คือหน้าตาที่จะพบเจอบ่อย แต่ในห้องเรียนวันนี้ workflow หลักจะเกิดใน Codespaces เพื่อให้ทุกคนเห็นสภาพแวดล้อมเดียวกัน.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ไม่ต้องสอนทุกคำสั่งลึกมาก จุดประสงค์ของสไลด์นี้คือให้ผู้เรียนมี survival kit สำหรับดูสถานะและ debug lab เบื้องต้นได้ด้วยตัวเอง.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สไลด์นี้เป็นสะพานไปสู่ lab ของ Grafana โดยตรง เพราะแทบทุก exercise ใน repo ใช้ Compose เพื่อยก Grafana, Prometheus และ InfluxDB ขึ้นมาพร้อมกัน.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เริ่มหัวข้อ Grafana ด้วยมุมมองระดับธุรกิจว่า Grafana ไม่ใช่แค่เครื่องมือทำกราฟ แต่เป็นจุดรวมของการ query, visualize และตอบคำถามจากข้อมูล.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ให้โยง 4 คำนี้กับสิ่งที่ผู้เรียนจะได้ทำจริงในคอร์ส เพื่อสร้าง mental map ตั้งแต่ต้นว่าแต่ละ exercise อยู่ตรงไหนของภาพรวมทั้งหมด.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ใช้สไลด์นี้ทำให้ data flow ชัดเจนก่อนเริ่มติดตั้งจริง โดยเน้นว่า Grafana ไม่ได้เก็บ metrics ทั้งหมดไว้เอง แต่ทำหน้าที่เชื่อมและแสดงผลจากระบบข้อมูลต่าง 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อธิบายเหตุผลเชิงการสอนว่าการใช้ Codespaces ลดความเสี่ยงเรื่องเครื่องผู้เรียนไม่เหมือนกัน และทำให้ผู้สอน support ได้ง่ายกว่า local setup แบบกระจัดกระจาย.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เล่าขั้นตอนแบบสั้น กระชับ และย้ำว่าผู้เรียนจะเห็น pattern เดิมซ้ำ ๆ ในหลาย exercise จึงควรจดจำ flow นี้ให้ได้.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หยุดบรรยายที่สไลด์นี้แล้วพาผู้เรียนลงมือทำทันที เป้าหมายคือให้ทุกคนมี Grafana ที่พร้อมใช้งานก่อนเข้าสู่หัวข้อ data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ใช้สไลด์นี้ก่อนลงรายละเอียดแต่ละระบบ เพื่อให้ผู้เรียนเข้าใจว่ากราฟใน Grafana เริ่มจากการเลือกแหล่งข้อมูลที่เหมาะ ไม่ใช่เริ่มจากหน้าตา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จุดที่ควรย้ำคือเรื่อง service name ใน Docker Compose ว่าภายใน network เดียวกันเราใช้ `prometheus` แทน `localhost` เพื่อให้ผู้เรียนไม่สับสนเวลา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 data source ตัวแรกที่ผู้เรียนจะเชื่อมเอง ให้ช่วยดูว่าทุกคนใช้ URL ถูกเป็น `http://prometheus:9090` และเห็นผลลัพธ์ใน Explore จริง.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อธิบายให้ผู้เรียนเห็นว่าต่อให้ data source ต่างชนิดกัน Grafana ก็ยังใช้ pattern การเชื่อมต่อคล้ายเดิม คือเลือกปลายทาง ใส่ credential และทดสอบการเชื่อมต่อ.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ให้ผู้เรียนเห็นความต่างของภาษา query แต่ยังอยู่ใน Grafana workflow เดิม ช่วยย้ำว่าเครื่องมือหน้าบ้านคงเดิม แต่แหล่งข้อมูลและภาษาคุยกับมันต่างกัน.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สไลด์นี้ช่วยเปลี่ยนมุมคิดจาก “อยากได้กราฟแบบไหน” ไปเป็น “อยากตอบคำถามอะไรจากข้อมูล” เพราะ query ที่ชัดคือฐานของ dashboard ที่ดี.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ย้ำกับผู้เรียนว่าการเลือก visualization ไม่ใช่แค่เรื่องสวยงาม แต่เป็นการออกแบบคำตอบให้ตรงกับสิ่งที่คนดูต้องตัดสินใจจากข้อมูล.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ช่วงนี้ควรปล่อยเวลาลงมือทำมากขึ้น เพราะผู้เรียนจะเริ่มเห็นภาพว่า query ที่เขียนไว้เปลี่ยนเป็น dashboard ที่ใช้งานได้จริงอย่างไร.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ให้ผู้เรียนเข้าใจก่อนว่า alerting คือขั้นต่อจาก dashboard เมื่อเราไม่ได้อยากรอให้คนมาเปิดดูกราฟเอง แต่ต้องการให้ระบบคอยเฝ้าระวังให้.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สไลด์นี้ไม่ต้องลงลึกระบบ notification ภายนอกมาก เพราะเป้าหมายของคอร์สคือให้ผู้เรียนเข้าใจแกนหลักของ rule evaluation ก่อน.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ตรงนี้ผู้เรียนจะเห็นว่า query ที่เคยใช้ดูข้อมูล สามารถกลายเป็นเงื่อนไขแจ้งเตือนได้จริง ซึ่งเป็นจุดเชื่อมสำคัญระหว่าง observability กับ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ให้ชี้ว่า variables ทำให้ dashboard เดียวดูหลาย service ได้ จึงช่วยลดการทำ dashboard ซ้ำจำนวนมากและดูแลง่ายขึ้น.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สไลด์นี้ช่วยให้ผู้เรียนเห็นประโยชน์เชิงใช้งานจริง ว่าการทำ dashboard แบบ interactive ทำให้ dashboard ชุดเดียวตอบคำถามได้หลายสถานการณ์.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แม้หัวข้อนี้อยู่ในส่วน advanced แต่ผู้เรียนมักเห็นผลเร็วและสนุก เพราะเปลี่ยนค่า dropdown แล้ว dashboard ตอบสนองทันที.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ใช้สไลด์นี้เปลี่ยนบทบาทของผู้เรียนจากผู้ใช้ Grafana ไปเป็นคนที่เริ่มขยายความสามารถของ Grafana เองได้.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อธิบายให้ผู้เรียนเห็นว่าก่อนจะเขียน plugin เอง เราควรรู้ก่อนว่า plugin ถูกใช้และถูกตั้งค่าใน Grafana อย่างไร เพราะเป็นประสบการณ์ที่ผู้ใช้ปลายทางจะเจอจริง.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สไลด์นี้ควรสร้างความมั่นใจให้ผู้เรียนว่า plugin development มี workflow ที่ชัดเจนและเริ่มต้นได้เร็ว ไม่จำเป็นต้องเริ่มจากศูนย์.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นี่คือช่วงที่ทำให้ผู้เรียนเห็นความเป็น developer ของคอร์สนี้ชัดที่สุด ควรช่วยให้ทุกคนไปถึงจุดที่ plugin แสดงผลใน Grafana ได้อย่างน้อยหนึ่งครั้ง.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ใช้สไลด์นี้ทบทวนภาพรวมทั้งหมดอย่างกระชับ เพื่อให้ผู้เรียนเชื่อมโยงว่าทุกหัวข้อที่ผ่านมาเป็นเส้นทางเดียวกันจากการเปิดระบบไปจนถึงการต่อยอดเอ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ปิดท้ายแบบเปิดพื้นที่ให้ถามต่อ และชวนให้ผู้เรียนกลับไปลองปรับใช้กับงานจริง เช่น เปลี่ยน data source, เพิ่ม panel หรือทดลองแก้ plugin ต่อเอง.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และ Container คืออะไร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คือการแพ็กแอปพร้อม dependency ให้รันซ้ำได้เหมือนกัน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แยก environment ของแต่ละงานออกจากกันโดยไม่ต้องสร้าง VM เต็มรูปแบบ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เหมาะกับงาน lab เพราะเริ่มต้นเร็วและ reset ได้ง่าย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docker-vs-v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เปรียบเทียบ VM กับ Container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ทำงานบนคอมพิวเตอร์อย่างไร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ใช้ kernel ของ host ร่วมกัน แต่แยก process, network และ filesystem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หลาย container รันพร้อมกันได้บนเครื่องเดียว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แต่ละ service จึงถูกแยกบทบาทชัดเจนและดูแลได้ง่ายขึ้น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host-engine-contain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→ Docker Engine → หลาย Containers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ส่วนประกอบสำคัญ: Image, Container, Volume, Network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คือแม่แบบสำหรับสร้าง container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คือ instance ที่กำลังรันจริง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เก็บข้อมูลถาวร และ Network ทำให้ service คุยกันได้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image-container-volume-netwo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องค์ประกอบหลักของระบบแบบ container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Desktop คืออะไร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Desktop คือเครื่องมือใช้งาน Docker บนเครื่องผู้ใช้แบบ local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มีทั้ง UI, resource settings และดู container ได้สะดวก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ในคอร์สนี้เราจะใช้ GitHub Codespaces เป็นหลัก แต่แนวคิดเหมือนกัน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docker-desktop-mo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ตัวอย่างหน้าตาเครื่องมือสำหรับดู containers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คำสั่ง Docker พื้นฐานที่ควรรู้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container ที่กำลังรันด้วย `docker ps`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image ในเครื่องด้วย `docker images`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log ด้วย `docker logs &lt;name&gt;` และเข้า shell ด้วย `docker exec -it &lt;name&gt; sh`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quick list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04825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2039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container ที่กำลังรัน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278892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87121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8620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image ที่มีในเครื่อง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361188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69417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grafana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368503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ดู log ของ service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36208" y="443484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51713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grafana 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45079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 shell ใน container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Basics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สำหรับงานหลาย service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ใช้ไฟล์เดียวกำหนดหลาย service พร้อมกัน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 stack ด้วย `docker compose up -d`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หยุดและล้าง network ด้วย `docker compose down`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compose-sta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เหมาะกับระบบที่มีหลาย service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Grafana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คืออะไร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ใช้สำรวจข้อมูล สร้าง dashboard และ monitor ระบบ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รองรับ data source ได้หลายแบบ เช่น Prometheus และ InfluxDB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เหมาะทั้งกับนักพัฒนา ทีม platform และงาน observability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grafana-capabiliti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หลายแหล่งไหลเข้าสู่ Grafana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Grafana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ความสามารถหลักของ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ใช้ทดลอง query และดูข้อมูลสด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และ Panel ใช้จัดข้อมูลให้อ่านเร็ว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Alerting ใช้จับเงื่อนไขสำคัญ และ Plugins ใช้ขยายความสามารถ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แกนหลักของคอร์ส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148840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249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Explore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862072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Dashboard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575304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Alerting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0" y="4288536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389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Plugins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Grafana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Architecture แบบพื้นฐาน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ผู้ใช้เข้าผ่าน browser ไปยัง Grafana UI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ส่ง query ไปยัง data source ที่เลือก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ผลลัพธ์ถูกใช้ทั้งใน dashboard, explore และ alerting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grafana-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→ Grafana → Data Sources → Insight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 and Configuration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การเตรียมระบบสำหรับติดตั้ง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คอร์สนี้ใช้ GitHub Codespaces เป็น lab environment กลาง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ต้องมี Docker, Docker Compose และ port forwarding พร้อมใช้งาน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ไฟล์สำคัญที่พบได้บ่อยคือ `.env` และ `docker-compose.yml`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codespaces-setu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Codespaces + Docker + Port 3000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 and Configuration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การติดตั้งและเปิดใช้งาน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เข้าโฟลเดอร์ lab แล้วรัน `docker compose up -d`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ตรวจสอบสถานะด้วย `docker compose ps`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 Grafana ผ่าน forwarded port `3000` และ login ด้วยค่าของ lab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สั้น 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04825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labfiles/01-setup-grafana-codespaces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2039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เข้าโฟลเดอร์ lab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278892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87121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8620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 Grafana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361188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69417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368503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ตรวจสอบสถานะ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36208" y="443484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51713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เปิด port 3000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45079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เข้าใช้งานจาก browser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01: Setup Grafana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Exercises/01-setup-grafana-codespaces.md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`Exercises/01-setup-grafana-codespaces.md`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 Grafana ใน Codespaces และตรวจสอบ port `3000`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ยืนยันว่า login ได้และเข้าใจบทบาทของ Docker volume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 Grafana ได้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เข้าใจ port forwarding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เห็น persistent volume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Data Sources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ใน Grafana คืออะไร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คือจุดเชื่อมระหว่าง Grafana กับระบบข้อมูลจริง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แต่ละ data source ใช้รูปแบบ query และ auth ต่างกัน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การเลือก data source ที่เหมาะสมทำให้ dashboard ตอบโจทย์ได้ดีขึ้น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datasource-hub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เชื่อมหลาย Data Sources ได้ในจุดเดียว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Data Sources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Data Source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เหมาะกับ metrics แบบ time series และใช้ PromQL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ใน lab ใช้ URL เป็น `http://prometheus:9090`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เริ่มสำรวจข้อมูลได้ทันทีผ่านหน้า Explore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prometheus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 → Grafana Explore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02: Prometheus Data Source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Exercises/02-prometheus-data-source.md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`Exercises/02-prometheus-data-source.md`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เพิ่ม Prometheus ผ่าน Grafana UI แล้วกด Save &amp; test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ทดลอง query `up` และ `prometheus_build_info`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เพิ่ม Prometheus สำเร็จ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ทดสอบการเชื่อมต่อได้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เห็นผลลัพธ์ PromQL แรก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Data Sources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InfluxDB Data Source แบบ Flux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InfluxDB 2.x ใช้ URL, Organization, Bucket และ Token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ใน lab นี้เลือก query language เป็น Flux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เหมาะกับการเปรียบเทียบแนวคิด query คนละแบบกับ PromQL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influxdb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data → InfluxDB → Grafana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03: InfluxDB + Flux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Exercises/03-influxdb-flux-data-source.md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`Exercises/03-influxdb-flux-data-source.md`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ข้อมูลตัวอย่าง แล้วเพิ่ม InfluxDB Data Source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ทดลอง query measurement `lab_metrics` ผ่าน Explore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data สำเร็จ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เชื่อม InfluxDB ได้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อ่าน Flux query ได้เบื้องต้น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 and Panels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 ใน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เริ่มทดลอง query ได้จากหน้า Explore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 data source ก่อน แล้วค่อยเขียน query ให้ตอบคำถามที่ชัดเจน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เดียวกันสามารถนำไปต่อยอดเป็น panel บน dashboard ได้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explore-to-pane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เป็นพื้นที่ทดลองก่อนนำขึ้น Dashboard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 and Panels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การออกแบบและสร้าง Panel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series เหมาะกับแนวโน้มตามเวลา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 เหมาะกับค่าปัจจุบันที่ต้องอ่านเร็ว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ชื่อ panel, legend และ layout ส่งผลต่อความเข้าใจไม่แพ้ query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panel-typ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 panel ให้ตรงกับคำถาม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04: Queries and Panels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Exercises/04-queries-and-panels.md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`Exercises/04-queries-and-panels.md`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นำเข้า dashboard skeleton และสร้าง Time series กับ Stat panel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ตั้งชื่อ panel และปรับ layout ให้ดูง่าย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dashboard แรกได้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เข้าใจ panel ต่างชนิด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อ่านผลจาก PromQL บน dashboard ได้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Alerting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ระบบ Alerting ของ Grafana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Alerting ใช้ตรวจเงื่อนไขจาก query และประเมินซ้ำตามช่วงเวลา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สถานะหลักคือ Normal, Pending และ Firing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Grafana-managed Alert rule สร้างได้จาก UI โดยไม่ต้องเขียนระบบเพิ่ม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alert-stat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สถานะของ Alert Rule เปลี่ยนตามการประเมินผล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Alerting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การตั้ง Alert Rule และ Notification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เริ่มจาก query ที่วัดสิ่งสำคัญจริง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กำหนด threshold, evaluation interval และ pending period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ใน lab นี้จะโฟกัสที่การเปลี่ยนสถานะของ rule เป็นหลัก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00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ตัวอย่างแนวคิดของ Rule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04825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20391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increase(demo_requests_total[1m])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278892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87121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28620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 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36208" y="361188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369417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368503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36208" y="4434840"/>
            <a:ext cx="49377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51713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450799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06: Alerting Basics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Exercises/06-alerting-basics.md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`Exercises/06-alerting-basics.md`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rule จาก `increase(demo_requests_total[1m])`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ยิง traffic แล้วดูสถานะเปลี่ยนจาก Normal ไปเป็น Pending หรือ Firing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rule สำเร็จ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alert ได้จริง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เข้าใจ state transition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Dashboard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Variables และ Templating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ช่วยลดการ hard-code ค่าใน query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dropdown เช่น `job` และ `instance` ได้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หลายตัวใช้ variable เดียวกันเพื่อเปลี่ยนมุมมองพร้อมกัน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variables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Dropdown → Query filter → Dashboard update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Dashboard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ผู้ใช้สลับค่าผ่าน dropdown แล้ว panel จะ refresh ตามทันที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ค่า variable ถูก sync ไปกับ URL เพื่อแชร์มุมมองเดิมได้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เหมาะกับ dashboard ที่ต้องใช้ซ้ำกับหลาย target หรือหลายทีม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flow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148840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249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เลือก job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862072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เลือก instance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575304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Panels refresh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0" y="4288536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389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แชร์ลิงก์พร้อม state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05: Dashboard Variables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Exercises/05-dashboard-variables.md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`Exercises/05-dashboard-variables.md`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variable `job` และ `instance`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 variable ใน PromQL เพื่อให้ dashboard โต้ตอบได้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variable ได้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ทำ dashboard interactive ได้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เข้าใจ templating เบื้องต้น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Plugins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Plugins คืออะไร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 ใช้เพิ่ม Data Source, Panel หรือ App ให้ Grafana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ช่วยขยายความสามารถให้ตรงกับโจทย์เฉพาะทาง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เป็นจุดที่นักพัฒนาสามารถต่อยอด Grafana ได้มากที่สุด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plugin-type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กลุ่ม plugin ที่พบได้บ่อยใน Grafana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Plugins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การติดตั้ง ใช้งาน และตั้งค่า Plugin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 plugin จาก catalog หรือ build ใช้เองในองค์กร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หลังติดตั้งควรตรวจสอบสิทธิ์ การตั้งค่า และ compatibility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บาง plugin ใช้เพิ่ม data source และบาง plugin ใช้เพิ่ม panel ใหม่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plugin-lifecyc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 → ติดตั้ง → ตั้งค่า → ใช้งาน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Plugins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การพัฒนา Panel Plugin แบบพื้นฐาน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 `@grafana/create-plugin` scaffold โปรเจกต์เริ่มต้น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พัฒนาด้วย TypeScript/React ตามแนวทางของ Grafana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รัน watcher และ Grafana dev stack เพื่อทดสอบได้ทันที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plugin-work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create-plugin → code → watch → Grafana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68680"/>
            <a:ext cx="10515600" cy="5074920"/>
          </a:xfrm>
          <a:prstGeom prst="roundRect">
            <a:avLst>
              <a:gd name="adj" fmla="val 1441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143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Transition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444752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สลับไปทำ Exercise 07: Panel Plugin Basics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B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ไฟล์ที่ใช้: Exercises/07-panel-plugin-basics.md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สิ่งที่ผู้เรียนควรทำ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08176" y="332841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เปิดไฟล์ `Exercises/07-panel-plugin-basics.md`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08176" y="383133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764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scaffold panel plugin ใหม่ แล้วรัน workflow สำหรับพัฒนา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08176" y="4334256"/>
            <a:ext cx="91440" cy="9144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4279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แก้ไข `SimplePanel.tsx` และ refresh ดูผลใน Grafana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2697480"/>
            <a:ext cx="44348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ผลลัพธ์ที่ควรเห็น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327355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4670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scaffold plugin สำเร็จ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377647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4962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โหลด plugin ได้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44768" y="4279392"/>
            <a:ext cx="38862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5254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เห็นผลจากการแก้โค้ดจริง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สรุปภาพรวมของคอร์ส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 Grafana ได้ใน Codespaces ด้วย Docker Compose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เชื่อมต่อ Prometheus และ InfluxDB ได้จริง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สร้าง dashboard, variables, alert และเริ่มพัฒนา plugin ได้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pic>
        <p:nvPicPr>
          <p:cNvPr id="13" name="Image 0" descr="/Users/teerasej/Desktop/Grafana for developer/source-engine/presentation-builder/assets/course-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144768" y="1572768"/>
            <a:ext cx="5138928" cy="3291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440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จาก Setup ไปสู่ Plugin Development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และ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0" y="3200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32/32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58191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ทบทวนคำถามหรือจุดติดขัดจากแต่ละ exercise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40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ลองทำ exercise ซ้ำตามลำดับเพื่อเสริมความเข้าใจ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718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ต่อยอด dashboard และ plugin จากโจทย์ของทีมตัวเอง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97880" y="1325880"/>
            <a:ext cx="5623560" cy="4023360"/>
          </a:xfrm>
          <a:prstGeom prst="roundRect">
            <a:avLst>
              <a:gd name="adj" fmla="val 1818"/>
            </a:avLst>
          </a:prstGeom>
          <a:solidFill>
            <a:srgbClr val="F7FAFF"/>
          </a:solidFill>
          <a:ln w="12700">
            <a:solidFill>
              <a:srgbClr val="D8E6FF"/>
            </a:solidFill>
            <a:prstDash val="solid"/>
          </a:ln>
          <a:effectLst>
            <a:outerShdw sx="100000" sy="100000" kx="0" ky="0" algn="bl" rotWithShape="0" blurRad="12700" dist="50800" dir="2700000">
              <a:srgbClr val="B7CCE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หลังจบคอร์ส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2148840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2249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ทบทวน labs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2862072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EAF2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ต่อยอด dashboard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575304"/>
            <a:ext cx="4389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9D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ลองสร้าง plugin ใหม่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6245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for Developer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GitHub Copilot CLI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for Developer</dc:title>
  <dc:subject>Grafana for Developer course presentation</dc:subject>
  <dc:creator>GitHub Copilot</dc:creator>
  <cp:lastModifiedBy>GitHub Copilot</cp:lastModifiedBy>
  <cp:revision>1</cp:revision>
  <dcterms:created xsi:type="dcterms:W3CDTF">2026-05-05T12:51:31Z</dcterms:created>
  <dcterms:modified xsi:type="dcterms:W3CDTF">2026-05-05T12:51:31Z</dcterms:modified>
</cp:coreProperties>
</file>