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learners. This course covers the full Grafana developer journey — from container setup all the way to building custom plugins.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Day 1 covers sections 1–5; Day 2 covers sections 6–9.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Docker Basics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big picture — containers give every learner the same baseline without machine-specific installs.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Correct the VM misconception. A container is an isolated process managed by the Docker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Establish shared vocabulary. Learners will see these terms in every Docker Compose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Codespaces reduces risk from machine differences and makes instructor support easier.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Goal: give learners enough to check status and debug on their own during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 bridge to the Grafana labs. Almost every exercise uses Compose to bring up Grafana, Prometheus, and InfluxDB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Introduction to Grafana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from a business perspective — Grafana is not just a chart tool but a central observability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these four pillars to what learners will actually do. This builds a mental map from the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data flow clear before first install. Grafana does not store metrics — it queries external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Installation &amp; Configuration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Codespaces reduces risk from machine differences and simplifies instructor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Reinforce this same start-up pattern — learners will repeat it in every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Allow everyone to reach a working Grafana before moving to data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Working with Data Sources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Graphs in Grafana always start by picking the right data source, not by choosing a panel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Inside Compose, use the service name 'prometheus' instead of localhost.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data source learners connect themselves. Ensure everyone uses the correct URL and sees results in Explore.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Grafana connection pattern — only the language for talking to the backend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query language difference while keeping the same Grafana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PromQL Basics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PromQL is not a SQL dialect. Built around the idea of time-series data streams.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'up' — every instance exposes it. Show how selectors narrow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four patterns cover the majority of real-world PromQL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switching modes. By the end, learners should feel confident reading and writing raw PromQL.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Queries and Panels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Shift mindset: 'what question am I answering?' not 'what graph do I want?'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Visualization choice is design, not aesthetics. Match what the viewer needs to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Allow extra time here. Learners start seeing how queries become real, usable dashboards.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7: Advanced Dashboard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Variables let one dashboard cover many services, preventing dashboard sprawl.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Changing 'service' immediately narrows 'region' options — highly practical real-world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contrast: static dashboard (one service) vs templated (any service from dropdown).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insight: variable values come from real metric labels, not hard-coded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SRE / on-call: go quickly from 'something is wrong' to 'exactly what and where'.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Payoff: clicking a table row lands on the detail dashboard with the correct target pre-selected.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8: Working with Alerting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Alerting is the next step beyond dashboards — the system watches automatically instead of waiting for someone to open a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Focus on the core rule evaluation cycle. No external notification channels needed in this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PromQL expression learners already know becomes an alert with just a threshold — key bridge between observability and operations.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9: Grafana Plugins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Shift learners from Grafana users to Grafana extenders — they now see the platform as developers.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writing a plugin, understand the installation experience your users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generator provides correct project structure, Compose setup, and TypeScript config from the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learner should see their own plugin render at least once — make this moment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10: Summary &amp; Next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Crisp recap: every topic is part of one path — from system setup to self-directed platform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an open invitation — encourage learners to take what they built back to real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Blank template slide. Duplicate and customise as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937760"/>
            <a:ext cx="12191695" cy="1920240"/>
          </a:xfrm>
          <a:prstGeom prst="rect">
            <a:avLst/>
          </a:prstGeom>
          <a:solidFill>
            <a:srgbClr val="07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14600"/>
            <a:ext cx="128016" cy="4114800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Grafana for Developers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7744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0C8FF"/>
                </a:solidFill>
                <a:latin typeface="Calibri"/>
              </a:rPr>
              <a:t>A hands-on guide to observability, dashboards, and plugin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212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2-Day Training  ·  GitHub Codespaces  ·  Prometheus  ·  InfluxDB  ·  Grafana 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03504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46E00"/>
                </a:solidFill>
                <a:latin typeface="Calibri"/>
              </a:rPr>
              <a:t>◈  Grafana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Course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9 sections  ·  9 hands-on labs  ·  one shared Codespaces environment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508760"/>
            <a:ext cx="402336" cy="59436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Docker Basics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0136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Containers, Compose, essential commands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468880"/>
            <a:ext cx="402336" cy="59436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Introduction to Grafana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Architecture, capabilities, first install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429000"/>
            <a:ext cx="402336" cy="59436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2900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Working with Data Sources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2160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Prometheus, InfluxDB, connection patterns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389120"/>
            <a:ext cx="402336" cy="59436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PromQL Basics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8172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Selectors, functions, aggregations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349240"/>
            <a:ext cx="402336" cy="59436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Queries and Panels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4184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Explore → Panel → Dashboard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1508760"/>
            <a:ext cx="402336" cy="59436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150876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Advanced Dashboard 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180136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Variables, templating, drill-down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2468880"/>
            <a:ext cx="402336" cy="59436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246888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Working with Alerting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76148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Rules, thresholds, state transitions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3429000"/>
            <a:ext cx="402336" cy="59436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42900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Grafana Plugins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72160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Plugin types, scaffold, develop, live reload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4389120"/>
            <a:ext cx="402336" cy="59436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38912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Summary &amp; Next Steps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68172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Recap and open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6B7280"/>
                </a:solidFill>
                <a:latin typeface="Calibri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Docker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0C8FF"/>
                </a:solidFill>
                <a:latin typeface="Calibri"/>
              </a:rPr>
              <a:t>Containers  ·  Images  ·  Compose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is Docker and Containers?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Section 1  ·  Docker Basics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D1B2A"/>
                </a:solidFill>
                <a:latin typeface="Calibri"/>
              </a:rPr>
              <a:t>Virtual Machine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4297680" cy="694944"/>
          </a:xfrm>
          <a:prstGeom prst="roundRect">
            <a:avLst/>
          </a:prstGeom>
          <a:solidFill>
            <a:srgbClr val="F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App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34640"/>
            <a:ext cx="4297680" cy="694944"/>
          </a:xfrm>
          <a:prstGeom prst="roundRect">
            <a:avLst/>
          </a:prstGeom>
          <a:solidFill>
            <a:srgbClr val="A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Guest 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657600"/>
            <a:ext cx="4297680" cy="694944"/>
          </a:xfrm>
          <a:prstGeom prst="roundRect">
            <a:avLst/>
          </a:prstGeom>
          <a:solidFill>
            <a:srgbClr val="60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Hypervisor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480560"/>
            <a:ext cx="4297680" cy="694944"/>
          </a:xfrm>
          <a:prstGeom prst="roundRect">
            <a:avLst/>
          </a:prstGeom>
          <a:solidFill>
            <a:srgbClr val="2D3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Hardware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371600"/>
            <a:ext cx="54864" cy="50292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06440" y="324612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B7280"/>
                </a:solidFill>
                <a:latin typeface="Calibri"/>
              </a:rPr>
              <a:t>vs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D1B2A"/>
                </a:solidFill>
                <a:latin typeface="Calibri"/>
              </a:rPr>
              <a:t>Containers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2011680"/>
            <a:ext cx="1508760" cy="1417320"/>
          </a:xfrm>
          <a:prstGeom prst="round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App 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57032" y="2011680"/>
            <a:ext cx="1508760" cy="141732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App 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30384" y="2011680"/>
            <a:ext cx="1508760" cy="1417320"/>
          </a:xfrm>
          <a:prstGeom prst="roundRect">
            <a:avLst/>
          </a:prstGeom>
          <a:solidFill>
            <a:srgbClr val="2DA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App 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3566160"/>
            <a:ext cx="4892040" cy="658368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Docker Engine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4315968"/>
            <a:ext cx="4892040" cy="658368"/>
          </a:xfrm>
          <a:prstGeom prst="roundRect">
            <a:avLst/>
          </a:prstGeom>
          <a:solidFill>
            <a:srgbClr val="2D3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Host OS  ·  Hardware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212080"/>
            <a:ext cx="11548872" cy="594360"/>
          </a:xfrm>
          <a:prstGeom prst="rect">
            <a:avLst/>
          </a:prstGeom>
          <a:solidFill>
            <a:srgbClr val="E6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248656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6FC6"/>
                </a:solidFill>
                <a:latin typeface="Calibri"/>
              </a:rPr>
              <a:t>Containers share the host OS kernel — no Guest OS overhead, faster startup, lower resource use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How Containers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Processes, not virtual machines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Containers share the host OS kernel — no Guest OS overhead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Each container has its own isolated process, network, and filesystem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Many containers run simultaneously on a single machine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Much faster to start and stop than full virtual machines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Key 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Image  ·  Container  ·  Volume  ·  Network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828800"/>
            <a:ext cx="2651760" cy="242316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📦  Image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Blueprint / template
Read-only layers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828800"/>
            <a:ext cx="2651760" cy="2423160"/>
          </a:xfrm>
          <a:prstGeom prst="round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🚀  Container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79" y="28346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Live running instance
Created from image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28800"/>
            <a:ext cx="2651760" cy="2423160"/>
          </a:xfrm>
          <a:prstGeom prst="roundRect">
            <a:avLst/>
          </a:prstGeom>
          <a:solidFill>
            <a:srgbClr val="2DA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💾 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8346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Persistent data
Survives restarts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828800"/>
            <a:ext cx="2651760" cy="2423160"/>
          </a:xfrm>
          <a:prstGeom prst="roundRect">
            <a:avLst/>
          </a:prstGeom>
          <a:solidFill>
            <a:srgbClr val="003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🌐  Network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28346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Service-to-service
communication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017520" y="2898648"/>
            <a:ext cx="347472" cy="256032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5943600" y="2898648"/>
            <a:ext cx="347472" cy="256032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869680" y="2898648"/>
            <a:ext cx="347472" cy="256032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4572000"/>
            <a:ext cx="11548872" cy="502920"/>
          </a:xfrm>
          <a:prstGeom prst="rect">
            <a:avLst/>
          </a:prstGeom>
          <a:solidFill>
            <a:srgbClr val="E6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608576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6FC6"/>
                </a:solidFill>
                <a:latin typeface="Calibri"/>
              </a:rPr>
              <a:t>These four concepts appear in every Docker Compose file throughout the course.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Docker Desktop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Local GUI — same engine, different surface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GUI for managing containers, images, and volumes on your laptop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Uses the same Docker engine as GitHub Codespaces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This course runs in Codespaces so everyone starts from the same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Docker Desktop is what learners will use after the course for local work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Essential Docker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Your debugging survival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docker ps                       — list running containers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31136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docker images                   — list locally available images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53512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docker logs &lt;name&gt;              — view container log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75887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docker exec -it &lt;name&gt; sh       — open an interactive shell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98264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docker inspect &lt;name&gt;           — view container metadata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Docker Compose for Multi-Service Stacks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One file  ·  all services  ·  one command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6B7280"/>
                </a:solidFill>
                <a:latin typeface="Calibri"/>
              </a:rPr>
              <a:t>docker-compose.yml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3200400" cy="109728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Grafana  :3000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011680"/>
            <a:ext cx="3200400" cy="1097280"/>
          </a:xfrm>
          <a:prstGeom prst="round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Prometheus  :9090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2011680"/>
            <a:ext cx="3200400" cy="1097280"/>
          </a:xfrm>
          <a:prstGeom prst="roundRect">
            <a:avLst/>
          </a:prstGeom>
          <a:solidFill>
            <a:srgbClr val="2DA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InfluxDB  :8086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3291840"/>
            <a:ext cx="11548872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Docker Internal Network  (compose_default)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4206240"/>
            <a:ext cx="5577840" cy="685800"/>
          </a:xfrm>
          <a:prstGeom prst="rect">
            <a:avLst/>
          </a:prstGeom>
          <a:solidFill>
            <a:srgbClr val="0D1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261104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DA44E"/>
                </a:solidFill>
                <a:latin typeface="Calibri"/>
              </a:rPr>
              <a:t>$ docker compose up -d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4206240"/>
            <a:ext cx="5486400" cy="685800"/>
          </a:xfrm>
          <a:prstGeom prst="rect">
            <a:avLst/>
          </a:prstGeom>
          <a:solidFill>
            <a:srgbClr val="1F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261104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92B2B"/>
                </a:solidFill>
                <a:latin typeface="Calibri"/>
              </a:rPr>
              <a:t>$ docker compose down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5212080"/>
            <a:ext cx="11548872" cy="502920"/>
          </a:xfrm>
          <a:prstGeom prst="rect">
            <a:avLst/>
          </a:prstGeom>
          <a:solidFill>
            <a:srgbClr val="E6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248656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6FC6"/>
                </a:solidFill>
                <a:latin typeface="Calibri"/>
              </a:rPr>
              <a:t>This same pattern is used in every lab exercise throughout the course.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6B7280"/>
                </a:solidFill>
                <a:latin typeface="Calibri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Introduction to Grafana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0C8FF"/>
                </a:solidFill>
                <a:latin typeface="Calibri"/>
              </a:rPr>
              <a:t>Explore  ·  Dashboards  ·  Alerting  ·  Plugins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is Grafana?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Visualize. Explore. Alert.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Open-source observability and data visualization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Connects to many data source types: Prometheus, InfluxDB, Loki, and more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Central place for querying, visualizing, and answering questions from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Used by developers, SREs, and platform teams worldwide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Core Capabilities of Grafana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The four pillars of this course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737360"/>
            <a:ext cx="2651760" cy="320040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🔍  Explore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803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Experiment with
queries, view live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737360"/>
            <a:ext cx="2651760" cy="3200400"/>
          </a:xfrm>
          <a:prstGeom prst="round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📊  Dashboards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28803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Organize data for
fast decision-making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37360"/>
            <a:ext cx="2651760" cy="3200400"/>
          </a:xfrm>
          <a:prstGeom prst="roundRect">
            <a:avLst/>
          </a:prstGeom>
          <a:solidFill>
            <a:srgbClr val="D9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🔔  Alerting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803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Detect important
conditions automatically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737360"/>
            <a:ext cx="2651760" cy="3200400"/>
          </a:xfrm>
          <a:prstGeom prst="roundRect">
            <a:avLst/>
          </a:prstGeom>
          <a:solidFill>
            <a:srgbClr val="2DA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🔌  Plugins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2600" y="28803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Extend Grafana with
custom capabilities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Basic Grafana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Browser  →  Grafana  →  Data Sources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560320"/>
            <a:ext cx="2286000" cy="1097280"/>
          </a:xfrm>
          <a:prstGeom prst="roundRect">
            <a:avLst/>
          </a:prstGeom>
          <a:solidFill>
            <a:srgbClr val="003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🌐  Browser
(User)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97480" y="2944368"/>
            <a:ext cx="502920" cy="274320"/>
          </a:xfrm>
          <a:prstGeom prst="rightArrow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46120" y="2560320"/>
            <a:ext cx="2743200" cy="1097280"/>
          </a:xfrm>
          <a:prstGeom prst="round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◈  Grafana
Server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35040" y="2944368"/>
            <a:ext cx="502920" cy="274320"/>
          </a:xfrm>
          <a:prstGeom prst="rightArrow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600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Data Sources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057400"/>
            <a:ext cx="3291840" cy="822960"/>
          </a:xfrm>
          <a:prstGeom prst="round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Prometheus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3108960"/>
            <a:ext cx="3291840" cy="82296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InfluxDB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4160520"/>
            <a:ext cx="3291840" cy="822960"/>
          </a:xfrm>
          <a:prstGeom prst="roundRect">
            <a:avLst/>
          </a:prstGeom>
          <a:solidFill>
            <a:srgbClr val="2DA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Loki / other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4160520"/>
            <a:ext cx="960120" cy="64008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Dashboards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8536" y="4160520"/>
            <a:ext cx="960120" cy="640080"/>
          </a:xfrm>
          <a:prstGeom prst="round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Explore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0952" y="4160520"/>
            <a:ext cx="960120" cy="640080"/>
          </a:xfrm>
          <a:prstGeom prst="roundRect">
            <a:avLst/>
          </a:prstGeom>
          <a:solidFill>
            <a:srgbClr val="D9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Alerting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73368" y="4160520"/>
            <a:ext cx="960120" cy="640080"/>
          </a:xfrm>
          <a:prstGeom prst="roundRect">
            <a:avLst/>
          </a:prstGeom>
          <a:solidFill>
            <a:srgbClr val="2DA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Plugins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45152" y="3657600"/>
            <a:ext cx="45720" cy="51206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5074920"/>
            <a:ext cx="11548872" cy="530352"/>
          </a:xfrm>
          <a:prstGeom prst="rect">
            <a:avLst/>
          </a:prstGeom>
          <a:solidFill>
            <a:srgbClr val="E6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111496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6FC6"/>
                </a:solidFill>
                <a:latin typeface="Calibri"/>
              </a:rPr>
              <a:t>Grafana never stores metrics itself — it queries external systems and renders the results.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6B7280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Installation &amp;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0C8FF"/>
                </a:solidFill>
                <a:latin typeface="Calibri"/>
              </a:rPr>
              <a:t>GitHub Codespaces  ·  docker compose up  ·  Port 3000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Preparing the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GitHub Codespaces as the shared lab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GitHub Codespaces provides an identical environment for every learner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Docker and Docker Compose are pre-installed — no local setup required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Port forwarding automatically exposes services like Grafana on port 3000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Key files in every lab:   .env   and   docker-compose.yml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Installing and Running Grafana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Start  →  Check  →  Open  →  Log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cd  labfiles/01-setup-grafana-codespaces/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31136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docker compose up -d           (start all services in the background)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53512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docker compose ps               (verify all containers are Running)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75887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Open port 3000 in the Codespaces Ports panel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98264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Log in with:  admin / admin   and change password on first login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4114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Lab  ·  Exercise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20624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Setup Grafana in Codespaces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6400800" cy="384048"/>
          </a:xfrm>
          <a:prstGeom prst="rect">
            <a:avLst/>
          </a:prstGeom>
          <a:solidFill>
            <a:srgbClr val="E6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990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FC6"/>
                </a:solidFill>
                <a:latin typeface="Calibri"/>
              </a:rPr>
              <a:t>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1901952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Clone the repo and open it in GitHub Codespaces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2651760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70048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Run docker compose up -d in labfiles/01-setup-grafana-codespaces/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" y="3401568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419856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Forward port 3000 and open Grafana in the browser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" y="4151376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169664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Inspect the Docker volume to understand data persistence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1371600"/>
            <a:ext cx="4937760" cy="384048"/>
          </a:xfrm>
          <a:prstGeom prst="rect">
            <a:avLst/>
          </a:prstGeom>
          <a:solidFill>
            <a:srgbClr val="E6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22592" y="139903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A44E"/>
                </a:solidFill>
                <a:latin typeface="Calibri"/>
              </a:rPr>
              <a:t>EXPECTED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920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Grafana running and accessible on port 3000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624328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Login with admin credentials confirmed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328416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Port forwarding understood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032504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Persistent Docker volume observed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29107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📄  Exercises/01-setup-grafana-codespaces.md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6B7280"/>
                </a:solidFill>
                <a:latin typeface="Calibri"/>
              </a:rPr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Working with Data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0C8FF"/>
                </a:solidFill>
                <a:latin typeface="Calibri"/>
              </a:rPr>
              <a:t>Prometheus  ·  InfluxDB  ·  Connection Patterns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is a Data Source?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The connection point between Grafana and your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743200"/>
            <a:ext cx="2651760" cy="1097280"/>
          </a:xfrm>
          <a:prstGeom prst="round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◈  Grafana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554480"/>
            <a:ext cx="2377440" cy="777240"/>
          </a:xfrm>
          <a:prstGeom prst="round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Prometheus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97480" y="1755648"/>
            <a:ext cx="2084831" cy="256032"/>
          </a:xfrm>
          <a:prstGeom prst="rightArrow">
            <a:avLst/>
          </a:prstGeom>
          <a:solidFill>
            <a:srgbClr val="BB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" y="2788920"/>
            <a:ext cx="2377440" cy="777240"/>
          </a:xfrm>
          <a:prstGeom prst="roundRect">
            <a:avLst/>
          </a:prstGeom>
          <a:solidFill>
            <a:srgbClr val="2DA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InfluxDB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97480" y="2990088"/>
            <a:ext cx="2084831" cy="256032"/>
          </a:xfrm>
          <a:prstGeom prst="rightArrow">
            <a:avLst/>
          </a:prstGeom>
          <a:solidFill>
            <a:srgbClr val="BB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4320" y="4023360"/>
            <a:ext cx="2377440" cy="777240"/>
          </a:xfrm>
          <a:prstGeom prst="roundRect">
            <a:avLst/>
          </a:prstGeom>
          <a:solidFill>
            <a:srgbClr val="003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697480" y="4224528"/>
            <a:ext cx="2084831" cy="256032"/>
          </a:xfrm>
          <a:prstGeom prst="rightArrow">
            <a:avLst/>
          </a:prstGeom>
          <a:solidFill>
            <a:srgbClr val="BB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09760" y="1554480"/>
            <a:ext cx="2377440" cy="777240"/>
          </a:xfrm>
          <a:prstGeom prst="roundRect">
            <a:avLst/>
          </a:prstGeom>
          <a:solidFill>
            <a:srgbClr val="D9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Loki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24927" y="1755648"/>
            <a:ext cx="2084831" cy="256032"/>
          </a:xfrm>
          <a:prstGeom prst="rightArrow">
            <a:avLst/>
          </a:prstGeom>
          <a:solidFill>
            <a:srgbClr val="BB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509760" y="2788920"/>
            <a:ext cx="2377440" cy="777240"/>
          </a:xfrm>
          <a:prstGeom prst="roundRect">
            <a:avLst/>
          </a:prstGeom>
          <a:solidFill>
            <a:srgbClr val="F0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Elasticsearch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424927" y="2990088"/>
            <a:ext cx="2084831" cy="256032"/>
          </a:xfrm>
          <a:prstGeom prst="rightArrow">
            <a:avLst/>
          </a:prstGeom>
          <a:solidFill>
            <a:srgbClr val="BB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09760" y="4023360"/>
            <a:ext cx="2377440" cy="777240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Custom Plugin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424927" y="4224528"/>
            <a:ext cx="2084831" cy="256032"/>
          </a:xfrm>
          <a:prstGeom prst="rightArrow">
            <a:avLst/>
          </a:prstGeom>
          <a:solidFill>
            <a:srgbClr val="BB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5074920"/>
            <a:ext cx="11548872" cy="530352"/>
          </a:xfrm>
          <a:prstGeom prst="rect">
            <a:avLst/>
          </a:prstGeom>
          <a:solidFill>
            <a:srgbClr val="E6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111496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6FC6"/>
                </a:solidFill>
                <a:latin typeface="Calibri"/>
              </a:rPr>
              <a:t>All data sources follow the same Grafana pattern: pick target → enter credentials → test connection → query.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Prometheus 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Time-series metrics  ·  PromQL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Prometheus scrapes and stores time-series metrics from configured targets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Query language: PromQL — functional, built for time-series aggregation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In Docker Compose, the URL is:   http://prometheus:9090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Explore → Code mode → type PromQL to see live metric data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4114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Lab  ·  Exercise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20624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Prometheus Data Source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6400800" cy="384048"/>
          </a:xfrm>
          <a:prstGeom prst="rect">
            <a:avLst/>
          </a:prstGeom>
          <a:solidFill>
            <a:srgbClr val="E6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990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FC6"/>
                </a:solidFill>
                <a:latin typeface="Calibri"/>
              </a:rPr>
              <a:t>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1901952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Start the lab stack with docker compose up -d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2651760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70048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Grafana → Connections → Add new data source → Prometheus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" y="3401568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419856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Set URL to  http://prometheus:9090  →  Save &amp; 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" y="4151376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169664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Open Explore and run:  up   and   prometheus_build_info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1371600"/>
            <a:ext cx="4937760" cy="384048"/>
          </a:xfrm>
          <a:prstGeom prst="rect">
            <a:avLst/>
          </a:prstGeom>
          <a:solidFill>
            <a:srgbClr val="E6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22592" y="139903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A44E"/>
                </a:solidFill>
                <a:latin typeface="Calibri"/>
              </a:rPr>
              <a:t>EXPECTED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920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Prometheus data source added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624328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Connection test passed (green)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328416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First PromQL query result visible in Explore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29107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📄  Exercises/02-prometheus-data-source.md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InfluxDB Data Source with Flux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InfluxDB 2.x  ·  Flux query language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InfluxDB 2.x uses Flux — a functional scripting language for data pipelines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Required connection fields: URL, Organization, Default Bucket, and 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Select 'Flux' as the query language when configuring the data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Compares a different paradigm alongside PromQL in the same Grafana UI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4114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Lab  ·  Exercise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20624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InfluxDB + Flux Data Source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6400800" cy="384048"/>
          </a:xfrm>
          <a:prstGeom prst="rect">
            <a:avLst/>
          </a:prstGeom>
          <a:solidFill>
            <a:srgbClr val="E6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990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FC6"/>
                </a:solidFill>
                <a:latin typeface="Calibri"/>
              </a:rPr>
              <a:t>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1901952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Run the seed script:   ./scripts/seed-influx.sh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2651760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70048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Grafana → Connections → Add InfluxDB data source (Flux mode)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" y="3401568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419856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Fill in URL, Org, Token, and Default Bucket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" y="4151376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169664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Query the  lab_metrics  measurement in Explore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1371600"/>
            <a:ext cx="4937760" cy="384048"/>
          </a:xfrm>
          <a:prstGeom prst="rect">
            <a:avLst/>
          </a:prstGeom>
          <a:solidFill>
            <a:srgbClr val="E6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22592" y="139903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A44E"/>
                </a:solidFill>
                <a:latin typeface="Calibri"/>
              </a:rPr>
              <a:t>EXPECTED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920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InfluxDB data seeded successfully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624328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InfluxDB data source connected (Flux mode)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328416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Basic Flux query returns results in Explore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29107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📄  Exercises/03-influxdb-flux-data-source.md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6B7280"/>
                </a:solidFill>
                <a:latin typeface="Calibri"/>
              </a:rPr>
              <a:t>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PromQL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0C8FF"/>
                </a:solidFill>
                <a:latin typeface="Calibri"/>
              </a:rPr>
              <a:t>Selectors  ·  Functions  ·  Aggregations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is PromQL?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The query language built into Prometheus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Functional language for selecting and aggregating time-series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Every expression returns an instant vector, range vector, or scalar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Used in Grafana Explore, panel editors, and alert rule definitions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Not SQL — designed around labelled metric streams and time windows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PromQL: Basic Metric Selectors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Select, filter, narrow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up                                       — 1 = target reachable, 0 = 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31136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{job="prometheus"}                 — label selector to filter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53512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up{job="prometheus",instance="…"}  — combine multiple selectors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75887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prometheus_build_info              — build metadata per Prometheus instance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98264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[5m]  range selector             — look back 5 minutes of samples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PromQL: Useful Functions &amp; Aggregations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Four patterns that cover most real-world queries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rate(metric[5m])              — per-second rate; use for counter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31136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increase(metric[1m])          — total counter change; useful in alert thresholds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53512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sum by (label) (metric)       — aggregate across instances grouped by 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75887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avg_over_time(metric[5m])     — average gauge value over a rolling window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98264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Rule: never plot raw counter values — always use rate() or increase()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PromQL in Grafana Explore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Builder mode vs Code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Select Prometheus as the data source in the Explore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Builder mode — visual form for discovery and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Code mode — type raw PromQL for complex expressions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Time range picker to zoom in; Query Inspector to view raw JSON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6B7280"/>
                </a:solidFill>
                <a:latin typeface="Calibri"/>
              </a:rPr>
              <a:t>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Queries and Panels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0C8FF"/>
                </a:solidFill>
                <a:latin typeface="Calibri"/>
              </a:rPr>
              <a:t>Explore  →  Panel  →  Dashboard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Queries in Grafana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Start with the question, not the chart 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Begin in Explore — experiment freely before committing to a panel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Choose the data source first, then write a query that answers a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A good query in Explore transfers directly to a dashboard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The query is the foundation — visualization follows from the data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Designing and Building Panels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Match the visualization to the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Time Series — trends and changes over a time range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Stat — a single current value read at a glance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Table — comparison across multiple dimensions or instances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Panel title, legend labels, and layout matter as much as the query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4114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Lab  ·  Exercise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20624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Queries and Panels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6400800" cy="384048"/>
          </a:xfrm>
          <a:prstGeom prst="rect">
            <a:avLst/>
          </a:prstGeom>
          <a:solidFill>
            <a:srgbClr val="E6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990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FC6"/>
                </a:solidFill>
                <a:latin typeface="Calibri"/>
              </a:rPr>
              <a:t>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1901952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Import the starter dashboard (dashboards/starter.json)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2651760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70048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Add a Time Series panel:  up{job='prometheus'}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" y="3401568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419856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Add a Stat panel:  prometheus_build_info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" y="4151376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169664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Set panel titles, configure legends, and adjust layout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1371600"/>
            <a:ext cx="4937760" cy="384048"/>
          </a:xfrm>
          <a:prstGeom prst="rect">
            <a:avLst/>
          </a:prstGeom>
          <a:solidFill>
            <a:srgbClr val="E6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22592" y="139903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A44E"/>
                </a:solidFill>
                <a:latin typeface="Calibri"/>
              </a:rPr>
              <a:t>EXPECTED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920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First real dashboard built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624328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Time Series vs Stat panel differences understood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328416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PromQL queries rendered on dashboard panels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29107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📄  Exercises/04-queries-and-panels.md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6B7280"/>
                </a:solidFill>
                <a:latin typeface="Calibri"/>
              </a:rPr>
              <a:t>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Advanced Dashboard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0C8FF"/>
                </a:solidFill>
                <a:latin typeface="Calibri"/>
              </a:rPr>
              <a:t>Variables  ·  Templating  ·  Drill-Down Links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Dashboard Variables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Eliminate hard-coded values  ·  Enable dynamic filtering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Variable Dropdowns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93392"/>
            <a:ext cx="3383280" cy="77724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$job  =  prometheus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93392"/>
            <a:ext cx="3383280" cy="77724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$instance  =  localhost:9090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1993392"/>
            <a:ext cx="3383280" cy="77724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$interval  =  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283464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6FC6"/>
                </a:solidFill>
                <a:latin typeface="Calibri"/>
              </a:rPr>
              <a:t>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10881360" cy="777240"/>
          </a:xfrm>
          <a:prstGeom prst="rect">
            <a:avLst/>
          </a:prstGeom>
          <a:solidFill>
            <a:srgbClr val="2D3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DA44E"/>
                </a:solidFill>
                <a:latin typeface="Calibri"/>
              </a:rPr>
              <a:t>rate(http_requests_total{job="$job", instance="$instance"}[$interval])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425196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6FC6"/>
                </a:solidFill>
                <a:latin typeface="Calibri"/>
              </a:rPr>
              <a:t>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773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  <a:latin typeface="Calibri"/>
              </a:rPr>
              <a:t>All panels update simultaneously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230368"/>
            <a:ext cx="2560320" cy="914400"/>
          </a:xfrm>
          <a:prstGeom prst="roundRect">
            <a:avLst/>
          </a:prstGeom>
          <a:solidFill>
            <a:srgbClr val="E6F2FF"/>
          </a:solidFill>
          <a:ln w="19050">
            <a:solidFill>
              <a:srgbClr val="006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6FC6"/>
                </a:solidFill>
                <a:latin typeface="Calibri"/>
              </a:rPr>
              <a:t>Panel 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5230368"/>
            <a:ext cx="2560320" cy="914400"/>
          </a:xfrm>
          <a:prstGeom prst="roundRect">
            <a:avLst/>
          </a:prstGeom>
          <a:solidFill>
            <a:srgbClr val="E6F2FF"/>
          </a:solidFill>
          <a:ln w="19050">
            <a:solidFill>
              <a:srgbClr val="006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6FC6"/>
                </a:solidFill>
                <a:latin typeface="Calibri"/>
              </a:rPr>
              <a:t>Panel 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5230368"/>
            <a:ext cx="2560320" cy="914400"/>
          </a:xfrm>
          <a:prstGeom prst="roundRect">
            <a:avLst/>
          </a:prstGeom>
          <a:solidFill>
            <a:srgbClr val="E6F2FF"/>
          </a:solidFill>
          <a:ln w="19050">
            <a:solidFill>
              <a:srgbClr val="006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6FC6"/>
                </a:solidFill>
                <a:latin typeface="Calibri"/>
              </a:rPr>
              <a:t>Panel 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5230368"/>
            <a:ext cx="2560320" cy="914400"/>
          </a:xfrm>
          <a:prstGeom prst="roundRect">
            <a:avLst/>
          </a:prstGeom>
          <a:solidFill>
            <a:srgbClr val="E6F2FF"/>
          </a:solidFill>
          <a:ln w="19050">
            <a:solidFill>
              <a:srgbClr val="006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6FC6"/>
                </a:solidFill>
                <a:latin typeface="Calibri"/>
              </a:rPr>
              <a:t>Panel 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4114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Lab  ·  Exercise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20624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Dashboard Variables with InfluxDB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6400800" cy="384048"/>
          </a:xfrm>
          <a:prstGeom prst="rect">
            <a:avLst/>
          </a:prstGeom>
          <a:solidFill>
            <a:srgbClr val="E6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990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FC6"/>
                </a:solidFill>
                <a:latin typeface="Calibri"/>
              </a:rPr>
              <a:t>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1901952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Seed multi-region InfluxDB data with ./scripts/seed-influx.sh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2651760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70048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Create a 'service' Query variable using a Flux 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" y="3401568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419856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Create a 'region' variable chained to the selected service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" y="4151376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169664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Update panel queries to use $service and $region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1371600"/>
            <a:ext cx="4937760" cy="384048"/>
          </a:xfrm>
          <a:prstGeom prst="rect">
            <a:avLst/>
          </a:prstGeom>
          <a:solidFill>
            <a:srgbClr val="E6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22592" y="139903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A44E"/>
                </a:solidFill>
                <a:latin typeface="Calibri"/>
              </a:rPr>
              <a:t>EXPECTED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920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Query variables populated from Flux live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624328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Chained variable filters correctly on selection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328416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Dashboard reacts dynamically to dropdown changes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29107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📄  Exercises/05-dashboard-variables.md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Templating: Reusable Dashboards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Query  ·  Custom  ·  Interval variable 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Query variable — values come from real metric labels (fully dynamic)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Custom variable — a fixed list defined by the dashboard author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Interval variable — control the time step/resolution of queries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Panel Repeat — auto-expand one panel definition into N panels per variable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4114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Lab  ·  Exercise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20624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Templating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6400800" cy="384048"/>
          </a:xfrm>
          <a:prstGeom prst="rect">
            <a:avLst/>
          </a:prstGeom>
          <a:solidFill>
            <a:srgbClr val="E6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990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FC6"/>
                </a:solidFill>
                <a:latin typeface="Calibri"/>
              </a:rPr>
              <a:t>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1901952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Import the starter.json dashboard skeleton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2651760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70048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Create a 'service' Query variable (from Prometheus label values)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" y="3401568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419856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Create a custom 'interval' variable: 1m, 5m, 15m, 1h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" y="4151376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169664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Enable Panel Repeat on the main panel to expand per service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1371600"/>
            <a:ext cx="4937760" cy="384048"/>
          </a:xfrm>
          <a:prstGeom prst="rect">
            <a:avLst/>
          </a:prstGeom>
          <a:solidFill>
            <a:srgbClr val="E6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22592" y="139903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A44E"/>
                </a:solidFill>
                <a:latin typeface="Calibri"/>
              </a:rPr>
              <a:t>EXPECTED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920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Query variable drives panel content dynamically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624328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Custom interval variable controls query resolution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328416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Panel Repeat expands one panel per service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29107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📄  Exercises/06-templating.md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Interactive Dashboards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Dashboard Links  ·  Data Links  ·  Drill-Down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737360"/>
            <a:ext cx="4297680" cy="237744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Ops Overview
(Table Panel)
All Targets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663440" y="2724912"/>
            <a:ext cx="685800" cy="365760"/>
          </a:xfrm>
          <a:prstGeom prst="rightArrow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45152" y="23591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Click row
(Data Link)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0" y="1737360"/>
            <a:ext cx="4297680" cy="2377440"/>
          </a:xfrm>
          <a:prstGeom prst="round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Target Detail
(Graphs)
$instance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011680"/>
            <a:ext cx="2011680" cy="594360"/>
          </a:xfrm>
          <a:prstGeom prst="roundRect">
            <a:avLst/>
          </a:prstGeom>
          <a:solidFill>
            <a:srgbClr val="E6F2FF"/>
          </a:solidFill>
          <a:ln w="19050">
            <a:solidFill>
              <a:srgbClr val="006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6FC6"/>
                </a:solidFill>
                <a:latin typeface="Calibri"/>
              </a:rPr>
              <a:t>Dashboard Link 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88920"/>
            <a:ext cx="2011680" cy="594360"/>
          </a:xfrm>
          <a:prstGeom prst="roundRect">
            <a:avLst/>
          </a:prstGeom>
          <a:solidFill>
            <a:srgbClr val="E6F2FF"/>
          </a:solidFill>
          <a:ln w="19050">
            <a:solidFill>
              <a:srgbClr val="006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D333B"/>
                </a:solidFill>
                <a:latin typeface="Calibri"/>
              </a:rPr>
              <a:t>Time range passed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43434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Context preserved across navigation: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4846320"/>
            <a:ext cx="3474720" cy="822960"/>
          </a:xfrm>
          <a:prstGeom prst="roundRect">
            <a:avLst/>
          </a:prstGeom>
          <a:solidFill>
            <a:srgbClr val="E6F2FF"/>
          </a:solidFill>
          <a:ln w="19050">
            <a:solidFill>
              <a:srgbClr val="006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6FC6"/>
                </a:solidFill>
                <a:latin typeface="Calibri"/>
              </a:rPr>
              <a:t>Time Range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4846320"/>
            <a:ext cx="3474720" cy="822960"/>
          </a:xfrm>
          <a:prstGeom prst="roundRect">
            <a:avLst/>
          </a:prstGeom>
          <a:solidFill>
            <a:srgbClr val="E6F2FF"/>
          </a:solidFill>
          <a:ln w="19050">
            <a:solidFill>
              <a:srgbClr val="006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6FC6"/>
                </a:solidFill>
                <a:latin typeface="Calibri"/>
              </a:rPr>
              <a:t>Variable Values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0" y="4846320"/>
            <a:ext cx="3474720" cy="822960"/>
          </a:xfrm>
          <a:prstGeom prst="roundRect">
            <a:avLst/>
          </a:prstGeom>
          <a:solidFill>
            <a:srgbClr val="E6F2FF"/>
          </a:solidFill>
          <a:ln w="19050">
            <a:solidFill>
              <a:srgbClr val="006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6FC6"/>
                </a:solidFill>
                <a:latin typeface="Calibri"/>
              </a:rPr>
              <a:t>Selected Data Point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4114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Lab  ·  Exercise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20624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Interactive Dashboards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6400800" cy="384048"/>
          </a:xfrm>
          <a:prstGeom prst="rect">
            <a:avLst/>
          </a:prstGeom>
          <a:solidFill>
            <a:srgbClr val="E6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990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FC6"/>
                </a:solidFill>
                <a:latin typeface="Calibri"/>
              </a:rPr>
              <a:t>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1901952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Create 'Ops Overview' with Table panel: sum by (job, instance) (up)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2651760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70048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Create 'Target Detail' dashboard with time series graphs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" y="3401568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419856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Add a Dashboard Link from Overview → Detail (preserve time range)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" y="4151376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169664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Add a Data Link on the table row to pass $instance as variable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1371600"/>
            <a:ext cx="4937760" cy="384048"/>
          </a:xfrm>
          <a:prstGeom prst="rect">
            <a:avLst/>
          </a:prstGeom>
          <a:solidFill>
            <a:srgbClr val="E6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22592" y="139903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A44E"/>
                </a:solidFill>
                <a:latin typeface="Calibri"/>
              </a:rPr>
              <a:t>EXPECTED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920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Dashboard link navigates and preserves time 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624328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Data link in Table opens correct detail 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328416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Variable ($instance) context carried between dashboards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29107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📄  Exercises/07-interactive-dashboards.md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6B7280"/>
                </a:solidFill>
                <a:latin typeface="Calibri"/>
              </a:rPr>
              <a:t>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Working with Alerting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0C8FF"/>
                </a:solidFill>
                <a:latin typeface="Calibri"/>
              </a:rPr>
              <a:t>Rules  ·  Thresholds  ·  State Transitions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Grafana Alerting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Evaluate  ·  State Machine  ·  Notify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2743200" cy="1554480"/>
          </a:xfrm>
          <a:prstGeom prst="roundRect">
            <a:avLst/>
          </a:prstGeom>
          <a:solidFill>
            <a:srgbClr val="2DA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Normal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Query below
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194560"/>
            <a:ext cx="2743200" cy="15544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Pending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0175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Threshold exceeded
(within window)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194560"/>
            <a:ext cx="2743200" cy="1554480"/>
          </a:xfrm>
          <a:prstGeom prst="roundRect">
            <a:avLst/>
          </a:prstGeom>
          <a:solidFill>
            <a:srgbClr val="D9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Firing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59" y="30175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Threshold exceeded
(window elapsed)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3320" y="2788920"/>
            <a:ext cx="1005840" cy="36576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452360" y="2788920"/>
            <a:ext cx="1005840" cy="36576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977639"/>
            <a:ext cx="10241280" cy="36576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2DA44E"/>
                </a:solidFill>
                <a:latin typeface="Calibri"/>
              </a:rPr>
              <a:t>Resolved (condition clears)  →  returns to Normal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800600"/>
            <a:ext cx="3474720" cy="91440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Evaluation Interval
How often rule is checked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4800600"/>
            <a:ext cx="3474720" cy="914400"/>
          </a:xfrm>
          <a:prstGeom prst="roundRect">
            <a:avLst/>
          </a:prstGeom>
          <a:solidFill>
            <a:srgbClr val="003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Pending Period
Prevents alert flapping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800600"/>
            <a:ext cx="3474720" cy="914400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Silences
Suppress notifications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Setting Up Alert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Query  →  Condition  →  Pending  →  Fire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Write a PromQL query that measures something operationally meaningful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Set a threshold condition — e.g. value &gt;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Evaluation interval — how often the rule is checked (e.g. every 1m)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Pending period — how long condition must hold to prevent flapping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4114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Lab  ·  Exercise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20624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Alerting Basics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6400800" cy="384048"/>
          </a:xfrm>
          <a:prstGeom prst="rect">
            <a:avLst/>
          </a:prstGeom>
          <a:solidFill>
            <a:srgbClr val="E6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990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FC6"/>
                </a:solidFill>
                <a:latin typeface="Calibri"/>
              </a:rPr>
              <a:t>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1901952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Create an alert rule:  increase(demo_requests_total[1m]) &gt;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2651760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70048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Set evaluation interval to 1m and pending period to 2m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" y="3401568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419856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Run  ./generate-traffic.sh  to trigger the condition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" y="4151376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169664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Watch the state transition in the Alert Rules UI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1371600"/>
            <a:ext cx="4937760" cy="384048"/>
          </a:xfrm>
          <a:prstGeom prst="rect">
            <a:avLst/>
          </a:prstGeom>
          <a:solidFill>
            <a:srgbClr val="E6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22592" y="139903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A44E"/>
                </a:solidFill>
                <a:latin typeface="Calibri"/>
              </a:rPr>
              <a:t>EXPECTED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920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Alert rule created with threshold condition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624328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Traffic script successfully triggers the 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328416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Normal → Pending → Firing transition observed in 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29107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📄  Exercises/08-alerting-basics.md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6B7280"/>
                </a:solidFill>
                <a:latin typeface="Calibri"/>
              </a:rPr>
              <a:t>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Grafana Plugins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0C8FF"/>
                </a:solidFill>
                <a:latin typeface="Calibri"/>
              </a:rPr>
              <a:t>Data Source  ·  Panel  ·  App  ·  TypeScript + React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are Grafana Plugins?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Extend the platform for any specialized need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737360"/>
            <a:ext cx="3474720" cy="3566160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Data Source Plugin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Connect Grafana to
any data backend.
Add new query editors.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737360"/>
            <a:ext cx="3474720" cy="3566160"/>
          </a:xfrm>
          <a:prstGeom prst="round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Panel Plugin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83464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Create new
visualization types.
Custom React components.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474720" cy="3566160"/>
          </a:xfrm>
          <a:prstGeom prst="roundRect">
            <a:avLst/>
          </a:prstGeom>
          <a:solidFill>
            <a:srgbClr val="2DA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App Plugin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83464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Bundle data sources,
panels &amp; pages into
a complete product.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5532120"/>
            <a:ext cx="11548872" cy="566928"/>
          </a:xfrm>
          <a:prstGeom prst="rect">
            <a:avLst/>
          </a:prstGeom>
          <a:solidFill>
            <a:srgbClr val="E6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577840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6FC6"/>
                </a:solidFill>
                <a:latin typeface="Calibri"/>
              </a:rPr>
              <a:t>Scaffold any type with:   npx @grafana/create-plugin@latest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Installing and Configuring Plugins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Public catalog  ·  Local development  ·  Version compatibility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Browse the public catalog at  grafana.com/plugins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Install via:  grafana-cli plugins install &lt;plugin-id&gt;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For development: mount the  dist/  folder via Docker Compose volume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Verify permissions, settings, and Grafana version compatibility after install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Developing a Basic Panel Plugin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Scaffold  ·  Develop  ·  Live Reload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Scaffold with:   npx @grafana/create-plugin@latest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Develop in TypeScript + React — same stack as Grafana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Run  npm run dev  to start the file watcher (live reload)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Mount  dist/  in docker-compose.yml — no container rebuild on changes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4864"/>
            <a:ext cx="4114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Lab  ·  Exercise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20624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Panel Plugin Basics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6400800" cy="384048"/>
          </a:xfrm>
          <a:prstGeom prst="rect">
            <a:avLst/>
          </a:prstGeom>
          <a:solidFill>
            <a:srgbClr val="E6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990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FC6"/>
                </a:solidFill>
                <a:latin typeface="Calibri"/>
              </a:rPr>
              <a:t>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1901952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Run  npx @grafana/create-plugin@latest  in labfiles/09-panel-plugin-basics/workspace/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2651760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70048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Select 'Panel' plugin type and enter a plugin name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" y="3401568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419856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Run  npm install &amp;&amp; npm run dev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" y="4151376"/>
            <a:ext cx="402336" cy="530352"/>
          </a:xfrm>
          <a:prstGeom prst="roundRect">
            <a:avLst/>
          </a:prstGeom>
          <a:solidFill>
            <a:srgbClr val="00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169664"/>
            <a:ext cx="5715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Edit  SimplePanel.tsx, save, and confirm live reload in Grafana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1371600"/>
            <a:ext cx="4937760" cy="384048"/>
          </a:xfrm>
          <a:prstGeom prst="rect">
            <a:avLst/>
          </a:prstGeom>
          <a:solidFill>
            <a:srgbClr val="E6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22592" y="139903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A44E"/>
                </a:solidFill>
                <a:latin typeface="Calibri"/>
              </a:rPr>
              <a:t>EXPECTED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920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Plugin scaffolded and installed successfully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624328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Grafana detects and loads the new plugin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328416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333B"/>
                </a:solidFill>
                <a:latin typeface="Calibri"/>
              </a:rPr>
              <a:t>✓  Code edit reflected in rendered panel (live reload working)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29107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📄  Exercises/09-panel-plugin-basics.md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6B7280"/>
                </a:solidFill>
                <a:latin typeface="Calibri"/>
              </a:rPr>
              <a:t>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Summary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0C8FF"/>
                </a:solidFill>
                <a:latin typeface="Calibri"/>
              </a:rPr>
              <a:t>Recap  ·  Q&amp;A  ·  Keep building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Course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What you built over two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Launched Grafana in Codespaces using Docker Compose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31136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Connected Prometheus (PromQL) and InfluxDB (Flux) as data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53512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Built dashboards with panels, variables, and templated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75887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Created a drill-down flow with Dashboard and Data Links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98264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Configured alert rules and observed state transitions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1247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D333B"/>
                </a:solidFill>
                <a:latin typeface="Calibri"/>
              </a:rPr>
              <a:t>  ›  Scaffolded and rendered a custom panel plugin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0292"/>
          </a:xfrm>
          <a:prstGeom prst="rect">
            <a:avLst/>
          </a:prstGeom>
          <a:solidFill>
            <a:srgbClr val="F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Q&amp;A and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C8FF"/>
                </a:solidFill>
                <a:latin typeface="Calibri"/>
              </a:rPr>
              <a:t>Keep building beyond the course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Swap in your team's real Prometheus / InfluxDB data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Build dashboards that answer your team's actual operational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Extend the panel plugin with custom options and data transformations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2D333B"/>
                </a:solidFill>
                <a:latin typeface="Calibri"/>
              </a:rPr>
              <a:t>  ›  Explore Grafana Loki (logs) and Tempo (traces) for full-stack observability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11457432" cy="1143000"/>
          </a:xfrm>
          <a:prstGeom prst="rect">
            <a:avLst/>
          </a:prstGeom>
          <a:solidFill>
            <a:srgbClr val="E6F2FF"/>
          </a:solidFill>
          <a:ln w="19050">
            <a:solidFill>
              <a:srgbClr val="006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99BBDD"/>
                </a:solidFill>
                <a:latin typeface="Calibri"/>
              </a:rPr>
              <a:t>[ Slide Title — click to customise 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691640"/>
            <a:ext cx="11457432" cy="4754880"/>
          </a:xfrm>
          <a:prstGeom prst="rect">
            <a:avLst/>
          </a:prstGeom>
          <a:solidFill>
            <a:srgbClr val="FAFBFF"/>
          </a:solidFill>
          <a:ln w="19050"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0">
                <a:solidFill>
                  <a:srgbClr val="AABBCC"/>
                </a:solidFill>
                <a:latin typeface="Calibri"/>
              </a:rPr>
              <a:t>[ Content area — add text, diagrams, images, or charts here ]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92240"/>
            <a:ext cx="11457432" cy="274320"/>
          </a:xfrm>
          <a:prstGeom prst="rect">
            <a:avLst/>
          </a:prstGeom>
          <a:solidFill>
            <a:srgbClr val="E6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